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5143500" cx="9144000"/>
  <p:notesSz cx="6858000" cy="9144000"/>
  <p:embeddedFontLst>
    <p:embeddedFont>
      <p:font typeface="Roboto"/>
      <p:regular r:id="rId7"/>
      <p:bold r:id="rId8"/>
      <p:italic r:id="rId9"/>
      <p:boldItalic r:id="rId10"/>
    </p:embeddedFont>
    <p:embeddedFont>
      <p:font typeface="Google Sans"/>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GoogleSans-regular.fntdata"/><Relationship Id="rId10" Type="http://schemas.openxmlformats.org/officeDocument/2006/relationships/font" Target="fonts/Roboto-boldItalic.fntdata"/><Relationship Id="rId13" Type="http://schemas.openxmlformats.org/officeDocument/2006/relationships/font" Target="fonts/GoogleSans-italic.fntdata"/><Relationship Id="rId12" Type="http://schemas.openxmlformats.org/officeDocument/2006/relationships/font" Target="fonts/Google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14" Type="http://schemas.openxmlformats.org/officeDocument/2006/relationships/font" Target="fonts/Google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3744909" y="70550"/>
            <a:ext cx="5109300" cy="5109300"/>
          </a:xfrm>
          <a:prstGeom prst="ellipse">
            <a:avLst/>
          </a:prstGeom>
          <a:solidFill>
            <a:srgbClr val="E6B8AF">
              <a:alpha val="38750"/>
            </a:srgbClr>
          </a:solidFill>
          <a:ln cap="flat" cmpd="sng" w="2857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 name="Google Shape;55;p13"/>
          <p:cNvGrpSpPr/>
          <p:nvPr/>
        </p:nvGrpSpPr>
        <p:grpSpPr>
          <a:xfrm>
            <a:off x="116816" y="70594"/>
            <a:ext cx="5109253" cy="5109253"/>
            <a:chOff x="2986712" y="1676962"/>
            <a:chExt cx="1854000" cy="1854000"/>
          </a:xfrm>
        </p:grpSpPr>
        <p:sp>
          <p:nvSpPr>
            <p:cNvPr id="56" name="Google Shape;56;p13"/>
            <p:cNvSpPr/>
            <p:nvPr/>
          </p:nvSpPr>
          <p:spPr>
            <a:xfrm>
              <a:off x="2986712" y="1676962"/>
              <a:ext cx="1854000" cy="1854000"/>
            </a:xfrm>
            <a:prstGeom prst="ellipse">
              <a:avLst/>
            </a:prstGeom>
            <a:solidFill>
              <a:srgbClr val="DEE7F2">
                <a:alpha val="64709"/>
              </a:srgbClr>
            </a:solidFill>
            <a:ln cap="flat" cmpd="sng" w="28575">
              <a:solidFill>
                <a:srgbClr val="A1C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txBox="1"/>
            <p:nvPr/>
          </p:nvSpPr>
          <p:spPr>
            <a:xfrm>
              <a:off x="3606964" y="1726110"/>
              <a:ext cx="613500" cy="299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700">
                  <a:solidFill>
                    <a:schemeClr val="dk1"/>
                  </a:solidFill>
                  <a:latin typeface="Google Sans"/>
                  <a:ea typeface="Google Sans"/>
                  <a:cs typeface="Google Sans"/>
                  <a:sym typeface="Google Sans"/>
                </a:rPr>
                <a:t>Wireshark</a:t>
              </a:r>
              <a:endParaRPr b="1" sz="1700">
                <a:solidFill>
                  <a:schemeClr val="dk1"/>
                </a:solidFill>
                <a:latin typeface="Google Sans"/>
                <a:ea typeface="Google Sans"/>
                <a:cs typeface="Google Sans"/>
                <a:sym typeface="Google Sans"/>
              </a:endParaRPr>
            </a:p>
          </p:txBody>
        </p:sp>
      </p:grpSp>
      <p:sp>
        <p:nvSpPr>
          <p:cNvPr id="58" name="Google Shape;58;p13"/>
          <p:cNvSpPr txBox="1"/>
          <p:nvPr/>
        </p:nvSpPr>
        <p:spPr>
          <a:xfrm>
            <a:off x="5805900" y="206050"/>
            <a:ext cx="1162500" cy="82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700">
                <a:solidFill>
                  <a:schemeClr val="dk1"/>
                </a:solidFill>
                <a:latin typeface="Google Sans"/>
                <a:ea typeface="Google Sans"/>
                <a:cs typeface="Google Sans"/>
                <a:sym typeface="Google Sans"/>
              </a:rPr>
              <a:t>tcpdump</a:t>
            </a:r>
            <a:endParaRPr b="1" sz="1700">
              <a:solidFill>
                <a:schemeClr val="dk1"/>
              </a:solidFill>
              <a:latin typeface="Google Sans"/>
              <a:ea typeface="Google Sans"/>
              <a:cs typeface="Google Sans"/>
              <a:sym typeface="Google Sans"/>
            </a:endParaRPr>
          </a:p>
        </p:txBody>
      </p:sp>
      <p:sp>
        <p:nvSpPr>
          <p:cNvPr id="59" name="Google Shape;59;p13"/>
          <p:cNvSpPr txBox="1"/>
          <p:nvPr/>
        </p:nvSpPr>
        <p:spPr>
          <a:xfrm>
            <a:off x="3915150" y="1366575"/>
            <a:ext cx="1120200" cy="469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300">
                <a:solidFill>
                  <a:schemeClr val="dk1"/>
                </a:solidFill>
                <a:latin typeface="Roboto"/>
                <a:ea typeface="Roboto"/>
                <a:cs typeface="Roboto"/>
                <a:sym typeface="Roboto"/>
              </a:rPr>
              <a:t>Similarities</a:t>
            </a:r>
            <a:endParaRPr sz="1000">
              <a:solidFill>
                <a:srgbClr val="FFFFFF"/>
              </a:solidFill>
              <a:latin typeface="Roboto"/>
              <a:ea typeface="Roboto"/>
              <a:cs typeface="Roboto"/>
              <a:sym typeface="Roboto"/>
            </a:endParaRPr>
          </a:p>
        </p:txBody>
      </p:sp>
      <p:sp>
        <p:nvSpPr>
          <p:cNvPr id="60" name="Google Shape;60;p13"/>
          <p:cNvSpPr txBox="1"/>
          <p:nvPr/>
        </p:nvSpPr>
        <p:spPr>
          <a:xfrm>
            <a:off x="1539766" y="1574345"/>
            <a:ext cx="277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61" name="Google Shape;61;p13"/>
          <p:cNvSpPr txBox="1"/>
          <p:nvPr/>
        </p:nvSpPr>
        <p:spPr>
          <a:xfrm>
            <a:off x="1084463" y="1149752"/>
            <a:ext cx="2777700" cy="38589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en" sz="1100">
                <a:solidFill>
                  <a:schemeClr val="dk1"/>
                </a:solidFill>
              </a:rPr>
              <a:t>Graphical User Interface (GUI):</a:t>
            </a:r>
            <a:br>
              <a:rPr b="1" lang="en" sz="1100">
                <a:solidFill>
                  <a:schemeClr val="dk1"/>
                </a:solidFill>
              </a:rPr>
            </a:br>
            <a:r>
              <a:rPr lang="en" sz="1100">
                <a:solidFill>
                  <a:schemeClr val="dk1"/>
                </a:solidFill>
              </a:rPr>
              <a:t> Wireshark offers a user-friendly, graphical interface that allows users to visualize packet data, making it easier to navigate and analyze network traffic with features like color coding and detailed protocol breakdowns.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Advanced Analysis Tools:</a:t>
            </a:r>
            <a:br>
              <a:rPr b="1" lang="en" sz="1100">
                <a:solidFill>
                  <a:schemeClr val="dk1"/>
                </a:solidFill>
              </a:rPr>
            </a:br>
            <a:r>
              <a:rPr lang="en" sz="1100">
                <a:solidFill>
                  <a:schemeClr val="dk1"/>
                </a:solidFill>
              </a:rPr>
              <a:t> It supports complex filtering, protocol dissectors, and the ability to follow streams, which are invaluable for detailed forensic analysis. Its integration with capture libraries (such as libpcap) also allows importing tcpdump captures for further analysis.</a:t>
            </a:r>
            <a:endParaRPr sz="1100">
              <a:solidFill>
                <a:schemeClr val="dk1"/>
              </a:solidFill>
            </a:endParaRPr>
          </a:p>
          <a:p>
            <a:pPr indent="0" lvl="0" marL="457200" rtl="0" algn="l">
              <a:lnSpc>
                <a:spcPct val="115000"/>
              </a:lnSpc>
              <a:spcBef>
                <a:spcPts val="0"/>
              </a:spcBef>
              <a:spcAft>
                <a:spcPts val="0"/>
              </a:spcAft>
              <a:buNone/>
            </a:pPr>
            <a:r>
              <a:t/>
            </a:r>
            <a:endParaRPr sz="1100">
              <a:solidFill>
                <a:schemeClr val="dk1"/>
              </a:solidFill>
              <a:latin typeface="Roboto"/>
              <a:ea typeface="Roboto"/>
              <a:cs typeface="Roboto"/>
              <a:sym typeface="Roboto"/>
            </a:endParaRPr>
          </a:p>
        </p:txBody>
      </p:sp>
      <p:sp>
        <p:nvSpPr>
          <p:cNvPr id="62" name="Google Shape;62;p13"/>
          <p:cNvSpPr txBox="1"/>
          <p:nvPr/>
        </p:nvSpPr>
        <p:spPr>
          <a:xfrm>
            <a:off x="3940200" y="1836375"/>
            <a:ext cx="1203300" cy="1931700"/>
          </a:xfrm>
          <a:prstGeom prst="rect">
            <a:avLst/>
          </a:prstGeom>
          <a:noFill/>
          <a:ln>
            <a:noFill/>
          </a:ln>
        </p:spPr>
        <p:txBody>
          <a:bodyPr anchorCtr="0" anchor="t" bIns="91425" lIns="91425" spcFirstLastPara="1" rIns="91425" wrap="square" tIns="91425">
            <a:spAutoFit/>
          </a:bodyPr>
          <a:lstStyle/>
          <a:p>
            <a:pPr indent="-292100" lvl="0" marL="27432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Packet Capture Capability</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000">
              <a:solidFill>
                <a:schemeClr val="dk1"/>
              </a:solidFill>
              <a:latin typeface="Roboto"/>
              <a:ea typeface="Roboto"/>
              <a:cs typeface="Roboto"/>
              <a:sym typeface="Roboto"/>
            </a:endParaRPr>
          </a:p>
          <a:p>
            <a:pPr indent="-292100" lvl="0" marL="27432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Open - Source Nature</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000">
              <a:solidFill>
                <a:schemeClr val="dk1"/>
              </a:solidFill>
              <a:latin typeface="Roboto"/>
              <a:ea typeface="Roboto"/>
              <a:cs typeface="Roboto"/>
              <a:sym typeface="Roboto"/>
            </a:endParaRPr>
          </a:p>
          <a:p>
            <a:pPr indent="-292100" lvl="0" marL="274320" rtl="0" algn="l">
              <a:lnSpc>
                <a:spcPct val="115000"/>
              </a:lnSpc>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Filtering and </a:t>
            </a:r>
            <a:r>
              <a:rPr lang="en" sz="1000">
                <a:solidFill>
                  <a:schemeClr val="dk1"/>
                </a:solidFill>
                <a:latin typeface="Roboto"/>
                <a:ea typeface="Roboto"/>
                <a:cs typeface="Roboto"/>
                <a:sym typeface="Roboto"/>
              </a:rPr>
              <a:t>Analysis</a:t>
            </a:r>
            <a:r>
              <a:rPr lang="en" sz="1000">
                <a:solidFill>
                  <a:schemeClr val="dk1"/>
                </a:solidFill>
                <a:latin typeface="Roboto"/>
                <a:ea typeface="Roboto"/>
                <a:cs typeface="Roboto"/>
                <a:sym typeface="Roboto"/>
              </a:rPr>
              <a:t> </a:t>
            </a:r>
            <a:endParaRPr sz="1000">
              <a:solidFill>
                <a:schemeClr val="dk1"/>
              </a:solidFill>
              <a:latin typeface="Roboto"/>
              <a:ea typeface="Roboto"/>
              <a:cs typeface="Roboto"/>
              <a:sym typeface="Roboto"/>
            </a:endParaRPr>
          </a:p>
        </p:txBody>
      </p:sp>
      <p:sp>
        <p:nvSpPr>
          <p:cNvPr id="63" name="Google Shape;63;p13"/>
          <p:cNvSpPr txBox="1"/>
          <p:nvPr/>
        </p:nvSpPr>
        <p:spPr>
          <a:xfrm>
            <a:off x="4998288" y="1149752"/>
            <a:ext cx="2777700" cy="40536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en" sz="1100">
                <a:solidFill>
                  <a:schemeClr val="dk1"/>
                </a:solidFill>
              </a:rPr>
              <a:t>Command-Line Interface:</a:t>
            </a:r>
            <a:br>
              <a:rPr b="1" lang="en" sz="1100">
                <a:solidFill>
                  <a:schemeClr val="dk1"/>
                </a:solidFill>
              </a:rPr>
            </a:br>
            <a:r>
              <a:rPr lang="en" sz="1100">
                <a:solidFill>
                  <a:schemeClr val="dk1"/>
                </a:solidFill>
              </a:rPr>
              <a:t> tcpdump is a command-line network protocol analyzer. It is accessed through a terminal on Unix/Linux systems and provides a text-based output of captured network traffic.</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Packet Capture and Filtering:</a:t>
            </a:r>
            <a:br>
              <a:rPr b="1" lang="en" sz="1100">
                <a:solidFill>
                  <a:schemeClr val="dk1"/>
                </a:solidFill>
              </a:rPr>
            </a:br>
            <a:r>
              <a:rPr lang="en" sz="1100">
                <a:solidFill>
                  <a:schemeClr val="dk1"/>
                </a:solidFill>
              </a:rPr>
              <a:t> It uses the libpcap library for packet capturing, supporting powerful filtering capabilities via Berkeley Packet Filter (BPF) syntax. This makes it efficient for capturing and analyzing specific types of network traffic quickly from the command line.</a:t>
            </a:r>
            <a:br>
              <a:rPr lang="en" sz="1100">
                <a:solidFill>
                  <a:schemeClr val="dk1"/>
                </a:solidFill>
              </a:rPr>
            </a:b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1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